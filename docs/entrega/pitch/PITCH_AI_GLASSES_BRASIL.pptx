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Nós somos a Medware.
Nossa proposta é simples: a consulta fica com o médico; o registro, com a inteligência.
Mas o médico precisa escutar, raciocinar e documentar ao mesmo tempo.
Essa disputa reduz o contato visual e frequentemente estende o trabalho para depois do atendimento.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queríamos assumir que um estudo internacional representava a rotina brasileira.
O Dr. Ranieri resumiu a tensão central: o prontuário deveria registrar a consulta, não interrompê-la.
A próxima rodada de entrevistas mede tempo, contato visual, confiança e os principais receios.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Medware é um assistente de prontuário automático para Ray-Ban Meta.
O médico conduz a consulta sem tocar em telas.
O áudio é processado localmente no Android, fotos e atestados podem ser solicitados por voz e, ao final, o médico recebe um rascunho para revisar.
A inteligência artificial prepara; o médico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começar, o paciente é informado e registra o consentimento.
Durante a consulta, o microfone dos óculos envia o áudio ao Android por HFP.
Ao dizer registrar imagem, o DAT captura uma foto pontual e responde imagem registrada.
Ao encerrar, a IA organiza apenas fatos presentes na transcrição.
Em nosso teste, o ASR errou um CID e o sistema corretamente o omitiu.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DAT 0.9 controla a câmera, enquanto o áudio usa o caminho HFP documentado pela Meta.
No telefone, o Vosk transcreve e o pipeline organiza os fatos sem gerar informação nova.
As respostas voltam por TTS.
Se alguma camada falha, o sistema degrada função antes de perder a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Já validamos o pipeline completo no emulador Android: áudio real, transcrição, foto por voz, SOAP, atestado, criptografia e revisão.
São 52 testes automatizados.
Nossa equipe reúne Lucas Pacheco em Android e front-end, Marcos Paulo em inteligência artificial e Lucas Isaac em inteligência artificial, privacidade e requisitos.
No hackathon, nossa primeira hora será dedicada a validar o HFP, a câmera DAT e a autonomia no hardware real.
Não queremos substituir o julgamento médico. Queremos devolver ao médico tempo e atenção para o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44652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44652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cospaulo429/meta-glasses" TargetMode="External"/><Relationship Id="rId1" Type="http://schemas.openxmlformats.org/officeDocument/2006/relationships/image" Target="../media/image-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rcospaulo429/meta-glasse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rcospaulo429/meta-glasse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rcospaulo429/meta-glasse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rcospaulo429/meta-glasse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rcospaulo429/meta-glasse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spaulo/Documents/meta-glasses/docs/entrega/pitch/assets/doctor-hero.jp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4920" y="0"/>
            <a:ext cx="2011680" cy="6858000"/>
          </a:xfrm>
          <a:prstGeom prst="rect">
            <a:avLst/>
          </a:prstGeom>
          <a:solidFill>
            <a:srgbClr val="0B211B">
              <a:alpha val="80000"/>
            </a:srgbClr>
          </a:solidFill>
          <a:ln w="12700">
            <a:solidFill>
              <a:srgbClr val="0B21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4389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9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GLASSES BRASIL 2026  ·  BEM-ESTAR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" y="80467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</a:t>
            </a:r>
            <a:pPr indent="0" marL="0">
              <a:buNone/>
            </a:pPr>
            <a:r>
              <a:rPr lang="en-US" sz="4300" b="1" dirty="0">
                <a:solidFill>
                  <a:srgbClr val="C8E6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WARE</a:t>
            </a:r>
            <a:endParaRPr lang="en-US" sz="4300" dirty="0"/>
          </a:p>
        </p:txBody>
      </p:sp>
      <p:sp>
        <p:nvSpPr>
          <p:cNvPr id="6" name="Shape 3"/>
          <p:cNvSpPr/>
          <p:nvPr/>
        </p:nvSpPr>
        <p:spPr>
          <a:xfrm>
            <a:off x="685800" y="1627632"/>
            <a:ext cx="786384" cy="0"/>
          </a:xfrm>
          <a:prstGeom prst="line">
            <a:avLst/>
          </a:prstGeom>
          <a:noFill/>
          <a:ln w="50800">
            <a:solidFill>
              <a:srgbClr val="F06B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90195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consulta fica com o médico.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registro, com a inteligência.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5E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assistente clínico mãos livres que transforma a consulta em rascunho de prontuário para revisão médica.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3858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8E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422452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2h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1847088" y="42976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prontuário e tarefas administrativas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cada 1h de atendimento clínico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4944" y="51389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Sinsky et al. · Annals of Internal Medicine · 2016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85800" y="61813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MEDWARE  ·  ASSISTENTE DE PRONTUÁRIO AUTOMÁTICO</a:t>
            </a:r>
            <a:endParaRPr lang="en-US" sz="850" dirty="0"/>
          </a:p>
        </p:txBody>
      </p:sp>
      <p:sp>
        <p:nvSpPr>
          <p:cNvPr id="14" name="Text 11">
            <a:hlinkClick r:id="rId2" tooltip=""/>
          </p:cNvPr>
          <p:cNvSpPr/>
          <p:nvPr/>
        </p:nvSpPr>
        <p:spPr>
          <a:xfrm>
            <a:off x="685800" y="641908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C8E66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github.com/marcospaulo429/meta-glasses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Essa dor também aparece na prática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escuta inicial e quatro perguntas para orientar a validação com médicos.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246120" cy="3520440"/>
          </a:xfrm>
          <a:prstGeom prst="roundRect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574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8E6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67004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“O prontuário deveria registrar a consulta, não interrompê-la.”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5E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Dr. Ranieri · médico entrevistado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15968" y="187452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D9EEE6"/>
          </a:solidFill>
          <a:ln w="12700">
            <a:solidFill>
              <a:srgbClr val="D9E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938528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23957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Quanto tempo vai para o prontuário?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882128" y="187452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D9EEE6"/>
          </a:solidFill>
          <a:ln w="12700">
            <a:solidFill>
              <a:srgbClr val="D9E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1856" y="1938528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09560" y="23957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registro reduz o contato visual?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315968" y="373075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D9EEE6"/>
          </a:solidFill>
          <a:ln w="12700">
            <a:solidFill>
              <a:srgbClr val="D9E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3794760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43400" y="4251960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gera confiança em um rascunho automático?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882128" y="3730752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DE1DA"/>
          </a:solidFill>
          <a:ln w="12700">
            <a:solidFill>
              <a:srgbClr val="FDE1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91856" y="379476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EIXOS DE VALIDAÇÃO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09560" y="4251960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Precisão · privacidade · revisão · bateria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94360" y="64282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Medware · AI Glasses Brasil 2026</a:t>
            </a:r>
            <a:endParaRPr lang="en-US" sz="750" dirty="0"/>
          </a:p>
        </p:txBody>
      </p:sp>
      <p:sp>
        <p:nvSpPr>
          <p:cNvPr id="22" name="Text 20">
            <a:hlinkClick r:id="rId1" tooltip=""/>
          </p:cNvPr>
          <p:cNvSpPr/>
          <p:nvPr/>
        </p:nvSpPr>
        <p:spPr>
          <a:xfrm>
            <a:off x="6080760" y="642823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github.com/marcospaulo429/meta-glasses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44652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Atender primeiro. Revisar depois.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experiência clínica mãos livres — com o médico sempre no controle.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00400" cy="3200400"/>
          </a:xfrm>
          <a:prstGeom prst="ellipse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27432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MÃOS LIVRES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Ray-Ban Meta + Android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984248"/>
            <a:ext cx="109728" cy="109728"/>
          </a:xfrm>
          <a:prstGeom prst="ellipse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37176" y="1874520"/>
            <a:ext cx="599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sem tocar em telas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17720" y="2779776"/>
            <a:ext cx="109728" cy="109728"/>
          </a:xfrm>
          <a:prstGeom prst="ellipse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2670048"/>
            <a:ext cx="599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Prontuário clínico processado localmente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17720" y="3575304"/>
            <a:ext cx="109728" cy="109728"/>
          </a:xfrm>
          <a:prstGeom prst="ellipse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3465576"/>
            <a:ext cx="599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e atestado por comando de voz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617720" y="4370832"/>
            <a:ext cx="109728" cy="109728"/>
          </a:xfrm>
          <a:prstGeom prst="ellipse">
            <a:avLst/>
          </a:prstGeom>
          <a:solidFill>
            <a:srgbClr val="F06B4F"/>
          </a:solidFill>
          <a:ln w="12700">
            <a:solidFill>
              <a:srgbClr val="F06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4261104"/>
            <a:ext cx="599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Médico revisa e confirma tudo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17720" y="5175504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EEE6"/>
          </a:solidFill>
          <a:ln w="12700">
            <a:solidFill>
              <a:srgbClr val="D9E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523951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“REGISTRAR IMAGEM”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39712" y="5175504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523951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“EMITIR ATESTADO”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79408" y="5175504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FDE1DA"/>
          </a:solidFill>
          <a:ln w="12700">
            <a:solidFill>
              <a:srgbClr val="FDE1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9136" y="52395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“ENCERRAR CONSULTA”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64282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Medware · AI Glasses Brasil 2026</a:t>
            </a:r>
            <a:endParaRPr lang="en-US" sz="750" dirty="0"/>
          </a:p>
        </p:txBody>
      </p:sp>
      <p:sp>
        <p:nvSpPr>
          <p:cNvPr id="23" name="Text 21">
            <a:hlinkClick r:id="rId1" tooltip=""/>
          </p:cNvPr>
          <p:cNvSpPr/>
          <p:nvPr/>
        </p:nvSpPr>
        <p:spPr>
          <a:xfrm>
            <a:off x="6080760" y="642823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github.com/marcospaulo429/meta-glasses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44652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EXPERIÊNCIA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consulta, cinco momentos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consentimento ao prontuário revisado.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70048" y="2944368"/>
            <a:ext cx="384048" cy="438912"/>
          </a:xfrm>
          <a:prstGeom prst="chevron">
            <a:avLst/>
          </a:prstGeom>
          <a:solidFill>
            <a:srgbClr val="CCD5D1"/>
          </a:solidFill>
          <a:ln w="12700">
            <a:solidFill>
              <a:srgbClr val="CCD5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206654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13432"/>
            <a:ext cx="411480" cy="411480"/>
          </a:xfrm>
          <a:prstGeom prst="ellipse">
            <a:avLst/>
          </a:prstGeom>
          <a:solidFill>
            <a:srgbClr val="D9EEE6"/>
          </a:solidFill>
          <a:ln w="12700">
            <a:solidFill>
              <a:srgbClr val="D9E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682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CONSENTIR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3410712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Finalidade e autorizações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92624" y="2944368"/>
            <a:ext cx="384048" cy="438912"/>
          </a:xfrm>
          <a:prstGeom prst="chevron">
            <a:avLst/>
          </a:prstGeom>
          <a:solidFill>
            <a:srgbClr val="CCD5D1"/>
          </a:solidFill>
          <a:ln w="12700">
            <a:solidFill>
              <a:srgbClr val="CCD5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80944" y="2148840"/>
            <a:ext cx="206654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2313432"/>
            <a:ext cx="411480" cy="411480"/>
          </a:xfrm>
          <a:prstGeom prst="ellipse">
            <a:avLst/>
          </a:prstGeom>
          <a:solidFill>
            <a:srgbClr val="D9EEE6"/>
          </a:solidFill>
          <a:ln w="12700">
            <a:solidFill>
              <a:srgbClr val="D9E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23682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45536" y="2926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63824" y="3410712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Áudio pelos óculos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2944368"/>
            <a:ext cx="384048" cy="438912"/>
          </a:xfrm>
          <a:prstGeom prst="chevron">
            <a:avLst/>
          </a:prstGeom>
          <a:solidFill>
            <a:srgbClr val="CCD5D1"/>
          </a:solidFill>
          <a:ln w="12700">
            <a:solidFill>
              <a:srgbClr val="CCD5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148840"/>
            <a:ext cx="206654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5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68112" y="2313432"/>
            <a:ext cx="411480" cy="411480"/>
          </a:xfrm>
          <a:prstGeom prst="ellipse">
            <a:avLst/>
          </a:prstGeom>
          <a:solidFill>
            <a:srgbClr val="D9EEE6"/>
          </a:solidFill>
          <a:ln w="12700">
            <a:solidFill>
              <a:srgbClr val="D9E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23682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68112" y="2926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0" y="3410712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e atestado por voz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37776" y="2944368"/>
            <a:ext cx="384048" cy="438912"/>
          </a:xfrm>
          <a:prstGeom prst="chevron">
            <a:avLst/>
          </a:prstGeom>
          <a:solidFill>
            <a:srgbClr val="CCD5D1"/>
          </a:solidFill>
          <a:ln w="12700">
            <a:solidFill>
              <a:srgbClr val="CCD5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6096" y="2148840"/>
            <a:ext cx="206654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D5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0688" y="2313432"/>
            <a:ext cx="411480" cy="411480"/>
          </a:xfrm>
          <a:prstGeom prst="ellipse">
            <a:avLst/>
          </a:prstGeom>
          <a:solidFill>
            <a:srgbClr val="D9EEE6"/>
          </a:solidFill>
          <a:ln w="12700">
            <a:solidFill>
              <a:srgbClr val="D9E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0688" y="23682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90688" y="2926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808976" y="3410712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Prontuário com origem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948672" y="2148840"/>
            <a:ext cx="2066544" cy="2011680"/>
          </a:xfrm>
          <a:prstGeom prst="roundRect">
            <a:avLst/>
          </a:prstGeom>
          <a:solidFill>
            <a:srgbClr val="0E604B"/>
          </a:solidFill>
          <a:ln w="15240">
            <a:solidFill>
              <a:srgbClr val="0E60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13264" y="2313432"/>
            <a:ext cx="411480" cy="411480"/>
          </a:xfrm>
          <a:prstGeom prst="ellipse">
            <a:avLst/>
          </a:prstGeom>
          <a:solidFill>
            <a:srgbClr val="C8E662"/>
          </a:solidFill>
          <a:ln w="12700">
            <a:solidFill>
              <a:srgbClr val="C8E6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13264" y="23682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13264" y="2926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131552" y="3410712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Editar, confirmar ou descartar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417320" y="4892040"/>
            <a:ext cx="9281160" cy="658368"/>
          </a:xfrm>
          <a:prstGeom prst="roundRect">
            <a:avLst/>
          </a:prstGeom>
          <a:solidFill>
            <a:srgbClr val="FFF3D1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093208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51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transcrição falhou em um código clínico? O sistema omite — não tenta adivinhar.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" y="64282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Medware · AI Glasses Brasil 2026</a:t>
            </a:r>
            <a:endParaRPr lang="en-US" sz="750" dirty="0"/>
          </a:p>
        </p:txBody>
      </p:sp>
      <p:sp>
        <p:nvSpPr>
          <p:cNvPr id="37" name="Text 35">
            <a:hlinkClick r:id="rId1" tooltip=""/>
          </p:cNvPr>
          <p:cNvSpPr/>
          <p:nvPr/>
        </p:nvSpPr>
        <p:spPr>
          <a:xfrm>
            <a:off x="6080760" y="642823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github.com/marcospaulo429/meta-glasses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44652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Inteligência local. Médico no controle.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arquitetura estreita, auditável e desenhada para degradar com segurança.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148840" cy="1261872"/>
          </a:xfrm>
          <a:prstGeom prst="roundRect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1284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ÓCULOS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1518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Áudio + câmera Meta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16936" y="2359152"/>
            <a:ext cx="329184" cy="457200"/>
          </a:xfrm>
          <a:prstGeom prst="chevron">
            <a:avLst/>
          </a:prstGeom>
          <a:solidFill>
            <a:srgbClr val="CCD5D1"/>
          </a:solidFill>
          <a:ln w="12700">
            <a:solidFill>
              <a:srgbClr val="CC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1965960"/>
            <a:ext cx="2148840" cy="1261872"/>
          </a:xfrm>
          <a:prstGeom prst="roundRect">
            <a:avLst/>
          </a:prstGeom>
          <a:solidFill>
            <a:srgbClr val="D9EEE6"/>
          </a:solidFill>
          <a:ln w="12700">
            <a:solidFill>
              <a:srgbClr val="D9E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21284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ANDROID LOCAL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91840" y="261518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AudioRecord + Vosk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85816" y="2359152"/>
            <a:ext cx="329184" cy="457200"/>
          </a:xfrm>
          <a:prstGeom prst="chevron">
            <a:avLst/>
          </a:prstGeom>
          <a:solidFill>
            <a:srgbClr val="CCD5D1"/>
          </a:solidFill>
          <a:ln w="12700">
            <a:solidFill>
              <a:srgbClr val="CC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96128" y="1965960"/>
            <a:ext cx="2148840" cy="1261872"/>
          </a:xfrm>
          <a:prstGeom prst="roundRect">
            <a:avLst/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21284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CLÍNICO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760720" y="261518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Fatos + prontuário + origem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54696" y="2359152"/>
            <a:ext cx="329184" cy="457200"/>
          </a:xfrm>
          <a:prstGeom prst="chevron">
            <a:avLst/>
          </a:prstGeom>
          <a:solidFill>
            <a:srgbClr val="CCD5D1"/>
          </a:solidFill>
          <a:ln w="12700">
            <a:solidFill>
              <a:srgbClr val="CCD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1965960"/>
            <a:ext cx="2148840" cy="1261872"/>
          </a:xfrm>
          <a:prstGeom prst="roundRect">
            <a:avLst/>
          </a:prstGeom>
          <a:solidFill>
            <a:srgbClr val="FDE1DA"/>
          </a:solidFill>
          <a:ln w="12700">
            <a:solidFill>
              <a:srgbClr val="FDE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21284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261518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 · confirmar · excluir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442448" y="2359152"/>
            <a:ext cx="329184" cy="457200"/>
          </a:xfrm>
          <a:prstGeom prst="chevron">
            <a:avLst/>
          </a:prstGeom>
          <a:solidFill>
            <a:srgbClr val="CCD5D1"/>
          </a:solidFill>
          <a:ln w="12700">
            <a:solidFill>
              <a:srgbClr val="CCD5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08208" y="1965960"/>
            <a:ext cx="768096" cy="1261872"/>
          </a:xfrm>
          <a:prstGeom prst="roundRect">
            <a:avLst/>
          </a:prstGeom>
          <a:solidFill>
            <a:srgbClr val="192321"/>
          </a:solidFill>
          <a:ln w="12700">
            <a:solidFill>
              <a:srgbClr val="1923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42316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VOZ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F0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ALGO FALHA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" y="4453128"/>
            <a:ext cx="109728" cy="109728"/>
          </a:xfrm>
          <a:prstGeom prst="ellipse">
            <a:avLst/>
          </a:prstGeom>
          <a:solidFill>
            <a:srgbClr val="F06B4F"/>
          </a:solidFill>
          <a:ln w="12700">
            <a:solidFill>
              <a:srgbClr val="F06B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4343400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Câmera ou bateria crítica → preserva o áudio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206240" y="4453128"/>
            <a:ext cx="109728" cy="109728"/>
          </a:xfrm>
          <a:prstGeom prst="ellipse">
            <a:avLst/>
          </a:prstGeom>
          <a:solidFill>
            <a:srgbClr val="F06B4F"/>
          </a:solidFill>
          <a:ln w="12700">
            <a:solidFill>
              <a:srgbClr val="F06B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5696" y="4343400"/>
            <a:ext cx="2935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Áudio dos óculos indisponível → mic do telefone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543800" y="4453128"/>
            <a:ext cx="109728" cy="109728"/>
          </a:xfrm>
          <a:prstGeom prst="ellipse">
            <a:avLst/>
          </a:prstGeom>
          <a:solidFill>
            <a:srgbClr val="F06B4F"/>
          </a:solidFill>
          <a:ln w="12700">
            <a:solidFill>
              <a:srgbClr val="F06B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63256" y="4343400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Transcrição incerta → não informado, nunca inferido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429000" y="5349240"/>
            <a:ext cx="5349240" cy="502920"/>
          </a:xfrm>
          <a:prstGeom prst="roundRect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551383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inteligência em nuvem · retenção mínima · revisão humana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64282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completo entregue em arquitetura.png + arquitetura.mmd</a:t>
            </a:r>
            <a:endParaRPr lang="en-US" sz="750" dirty="0"/>
          </a:p>
        </p:txBody>
      </p:sp>
      <p:sp>
        <p:nvSpPr>
          <p:cNvPr id="33" name="Text 31">
            <a:hlinkClick r:id="rId1" tooltip=""/>
          </p:cNvPr>
          <p:cNvSpPr/>
          <p:nvPr/>
        </p:nvSpPr>
        <p:spPr>
          <a:xfrm>
            <a:off x="6080760" y="642823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github.com/marcospaulo429/meta-glasses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44652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EVIDÊNCIA, EQUIPE E PRÓXIMOS PASSOS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Não é apenas uma ideia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Execução comprovada, competências complementares e um próximo teste objetivo.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200400" cy="2880360"/>
          </a:xfrm>
          <a:prstGeom prst="roundRect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57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1051560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E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automatizados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58444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Android de ponta a ponta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prontuário · foto · atestado · cofre · revisão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07408" y="18836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F0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HARDWARE REAL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505456"/>
            <a:ext cx="109728" cy="109728"/>
          </a:xfrm>
          <a:prstGeom prst="ellipse">
            <a:avLst/>
          </a:prstGeom>
          <a:solidFill>
            <a:srgbClr val="F06B4F"/>
          </a:solidFill>
          <a:ln w="12700">
            <a:solidFill>
              <a:srgbClr val="F0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39572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da voz pelos óculos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34840" y="3264408"/>
            <a:ext cx="109728" cy="109728"/>
          </a:xfrm>
          <a:prstGeom prst="ellipse">
            <a:avLst/>
          </a:prstGeom>
          <a:solidFill>
            <a:srgbClr val="F06B4F"/>
          </a:solidFill>
          <a:ln w="12700">
            <a:solidFill>
              <a:srgbClr val="F06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315468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pontual com o toolkit Meta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34840" y="4023360"/>
            <a:ext cx="109728" cy="109728"/>
          </a:xfrm>
          <a:prstGeom prst="ellipse">
            <a:avLst/>
          </a:prstGeom>
          <a:solidFill>
            <a:srgbClr val="F06B4F"/>
          </a:solidFill>
          <a:ln w="12700">
            <a:solidFill>
              <a:srgbClr val="F06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39136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Autonomia por consulta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63840" y="18836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NOSSO DIFERENCIAL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82128" y="2505456"/>
            <a:ext cx="109728" cy="109728"/>
          </a:xfrm>
          <a:prstGeom prst="ellipse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2395728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Processamento clínico local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882128" y="3264408"/>
            <a:ext cx="109728" cy="109728"/>
          </a:xfrm>
          <a:prstGeom prst="ellipse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315468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Proveniência fato a fato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882128" y="4023360"/>
            <a:ext cx="109728" cy="109728"/>
          </a:xfrm>
          <a:prstGeom prst="ellipse">
            <a:avLst/>
          </a:prstGeom>
          <a:solidFill>
            <a:srgbClr val="0E604B"/>
          </a:solidFill>
          <a:ln w="12700">
            <a:solidFill>
              <a:srgbClr val="0E60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3913632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92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Médico sempre no controle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580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5321808"/>
            <a:ext cx="3337560" cy="0"/>
          </a:xfrm>
          <a:prstGeom prst="line">
            <a:avLst/>
          </a:prstGeom>
          <a:noFill/>
          <a:ln w="25400">
            <a:solidFill>
              <a:srgbClr val="0E60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4681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LUCAS PACHECO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57424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e front-end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62272" y="5321808"/>
            <a:ext cx="3337560" cy="0"/>
          </a:xfrm>
          <a:prstGeom prst="line">
            <a:avLst/>
          </a:prstGeom>
          <a:noFill/>
          <a:ln w="25400">
            <a:solidFill>
              <a:srgbClr val="0E60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54681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MARCOS PAULO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62272" y="57424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Inteligência artificial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38744" y="5321808"/>
            <a:ext cx="3337560" cy="0"/>
          </a:xfrm>
          <a:prstGeom prst="line">
            <a:avLst/>
          </a:prstGeom>
          <a:noFill/>
          <a:ln w="25400">
            <a:solidFill>
              <a:srgbClr val="F06B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38744" y="54681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LUCAS ISAAC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38744" y="57424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Inteligência artificial, privacidade e requisitos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71800" y="6099048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60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Devolver ao médico tempo e atenção para o paciente.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94360" y="64282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Medware · AI Glasses Brasil 2026</a:t>
            </a:r>
            <a:endParaRPr lang="en-US" sz="750" dirty="0"/>
          </a:p>
        </p:txBody>
      </p:sp>
      <p:sp>
        <p:nvSpPr>
          <p:cNvPr id="35" name="Text 33">
            <a:hlinkClick r:id="rId1" tooltip=""/>
          </p:cNvPr>
          <p:cNvSpPr/>
          <p:nvPr/>
        </p:nvSpPr>
        <p:spPr>
          <a:xfrm>
            <a:off x="6080760" y="642823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0E60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github.com/marcospaulo429/meta-glasses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6304" y="644652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0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AI Glasses Brasil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Medware — Assistente de Prontuário Automático</dc:title>
  <dc:subject>Vídeo-pitch — AI Glasses Brasil 2026</dc:subject>
  <dc:creator>Equipe Medware</dc:creator>
  <cp:lastModifiedBy>Equipe Medware</cp:lastModifiedBy>
  <cp:revision>1</cp:revision>
  <dcterms:created xsi:type="dcterms:W3CDTF">2026-08-22T20:40:43Z</dcterms:created>
  <dcterms:modified xsi:type="dcterms:W3CDTF">2026-08-22T20:40:43Z</dcterms:modified>
</cp:coreProperties>
</file>