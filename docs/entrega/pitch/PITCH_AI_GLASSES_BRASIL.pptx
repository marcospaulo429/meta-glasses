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consulta deveria ser uma conversa entre médico e paciente.
Mas o médico precisa escutar, raciocinar e documentar ao mesmo tempo.
Essa disputa reduz o contato visual e frequentemente estende o trabalho para depois do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queríamos assumir que um estudo internacional representava a rotina brasileira.
Por isso conversamos com médicos reais.
Substituir este trecho pelos achados e por uma citação verdadeira antes de gravar.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Nossa proposta é um assistente de prontuário automático para Ray-Ban Meta.
O médico conduz a consulta sem tocar em telas.
O áudio é processado localmente no Android, fotos e atestados podem ser solicitados por voz e, ao final, o médico recebe um rascunho para revisar.
A IA prepara; o médico decide.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começar, o paciente é informado e registra o consentimento.
Durante a consulta, o microfone dos óculos envia o áudio ao Android por HFP.
Ao dizer registrar imagem, o DAT captura uma foto pontual e responde imagem registrada.
Ao encerrar, a IA organiza apenas fatos presentes na transcrição.
Em nosso teste, o ASR errou um CID e o sistema corretamente o omitiu.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DAT 0.9 controla a câmera, enquanto o áudio usa o caminho HFP documentado pela Meta.
No telefone, o Vosk transcreve e o pipeline organiza os fatos sem gerar informação nova.
As respostas voltam por TTS.
Se alguma camada falha, o sistema degrada função antes de perder a consulta.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Já validamos o pipeline completo no emulador Android: áudio real, transcrição, foto por voz, SOAP, atestado, criptografia e revisão.
São 52 testes automatizados.
No hackathon, nossa primeira hora será dedicada a validar o HFP, a câmera DAT e a autonomia no hardware real.
Não queremos substituir o julgamento médico. Queremos devolver ao médico tempo e atenção para o paciente.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arcospaulo429/meta-glasses" TargetMode="External"/><Relationship Id="rId1" Type="http://schemas.openxmlformats.org/officeDocument/2006/relationships/image" Target="../media/image-1-1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arcospaulo429/meta-glasses" TargetMode="Externa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arcospaulo/Documents/meta-glasses/docs/entrega/pitch/assets/doctor-hero.jpg">    </p:cNvPr>
          <p:cNvPicPr>
            <a:picLocks noChangeAspect="1"/>
          </p:cNvPicPr>
          <p:nvPr/>
        </p:nvPicPr>
        <p:blipFill>
          <a:blip r:embed="rId1">
            <a:alphaModFix amt="92000"/>
          </a:blip>
          <a:stretch>
            <a:fillRect/>
          </a:stretch>
        </p:blipFill>
        <p:spPr>
          <a:xfrm>
            <a:off x="5486400" y="0"/>
            <a:ext cx="67052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74920" y="0"/>
            <a:ext cx="2011680" cy="6858000"/>
          </a:xfrm>
          <a:prstGeom prst="rect">
            <a:avLst/>
          </a:prstGeom>
          <a:solidFill>
            <a:srgbClr val="0B211B">
              <a:alpha val="80000"/>
            </a:srgbClr>
          </a:solidFill>
          <a:ln w="12700">
            <a:solidFill>
              <a:srgbClr val="0B21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58368" y="658368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PRONTUÁRIO DISPUTA</a:t>
            </a:r>
            <a:endParaRPr lang="en-US" sz="2900" dirty="0"/>
          </a:p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ATENÇÃO COM O PACIENTE</a:t>
            </a:r>
            <a:endParaRPr lang="en-US" sz="2900" dirty="0"/>
          </a:p>
        </p:txBody>
      </p:sp>
      <p:sp>
        <p:nvSpPr>
          <p:cNvPr id="5" name="Text 2"/>
          <p:cNvSpPr/>
          <p:nvPr/>
        </p:nvSpPr>
        <p:spPr>
          <a:xfrm>
            <a:off x="685800" y="2148840"/>
            <a:ext cx="4434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Escutar, raciocinar e documentar — ao mesmo tempo.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685800" y="2971800"/>
            <a:ext cx="4297680" cy="0"/>
          </a:xfrm>
          <a:prstGeom prst="line">
            <a:avLst/>
          </a:prstGeom>
          <a:noFill/>
          <a:ln w="25400">
            <a:solidFill>
              <a:srgbClr val="C8E66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85800" y="3310128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ATÉ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85800" y="3611880"/>
            <a:ext cx="11430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2h</a:t>
            </a:r>
            <a:endParaRPr lang="en-US" sz="4900" dirty="0"/>
          </a:p>
        </p:txBody>
      </p:sp>
      <p:sp>
        <p:nvSpPr>
          <p:cNvPr id="9" name="Text 6"/>
          <p:cNvSpPr/>
          <p:nvPr/>
        </p:nvSpPr>
        <p:spPr>
          <a:xfrm>
            <a:off x="1874520" y="370332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 prontuário e tarefas administrativas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 cada 1h de atendimento clínico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94944" y="4590288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9B8B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Sinsky et al. · Annals of Internal Medicine · 2016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685800" y="618134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/>
          <p:nvPr/>
        </p:nvSpPr>
        <p:spPr>
          <a:xfrm>
            <a:off x="685800" y="6419088"/>
            <a:ext cx="4480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u="sng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VALIDAÇÃO LOCAL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Essa dor também aparece na prática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Substituir os campos destacados após ouvir médicos reais — sem inventar estatística.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24612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057400"/>
            <a:ext cx="457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C8E66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914400" y="2670048"/>
            <a:ext cx="2606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[INSERIR UMA FRASE REAL, CURTA E FORTE]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914400" y="452628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5E1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— Médico entrevistado · especialidade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1596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2569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1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343400" y="2395728"/>
            <a:ext cx="3017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Quanto tempo vai para o prontuário?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7882128" y="187452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91856" y="1938528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2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09560" y="2395728"/>
            <a:ext cx="3246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registro reduz o contato visual?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4315968" y="3730752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25696" y="3794760"/>
            <a:ext cx="9235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PERGUNTA 3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343400" y="4251960"/>
            <a:ext cx="3154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 que gera confiança em um rascunho automático?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7882128" y="3730752"/>
            <a:ext cx="1298448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91856" y="3794760"/>
            <a:ext cx="10789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MAIOR RECEIO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09560" y="4251960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[precisão · privacidade · revisão · bateria]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2" name="Text 20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SOLUÇÃO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Atender primeiro. Revisar depois.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experiência clínica mãos livres — com o médico sempre no controle.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874520"/>
            <a:ext cx="3200400" cy="3200400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6152" y="2743200"/>
            <a:ext cx="2331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CONSULTA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MÃOS LIVRES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1234440" y="3794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Ray-Ban Meta + Android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17720" y="198424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37176" y="1874520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Consulta sem tocar em telas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4617720" y="277977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37176" y="2670048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Prontuário SOAP processado localmente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617720" y="3575304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837176" y="3465576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comando de voz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617720" y="4370832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37176" y="4261104"/>
            <a:ext cx="5998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revisa e confirma tudo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617720" y="5175504"/>
            <a:ext cx="2057400" cy="384048"/>
          </a:xfrm>
          <a:prstGeom prst="roundRect">
            <a:avLst>
              <a:gd name="adj" fmla="val 19048"/>
            </a:avLst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5239512"/>
            <a:ext cx="183794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“REGISTRAR IMAGEM”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839712" y="5175504"/>
            <a:ext cx="1965960" cy="384048"/>
          </a:xfrm>
          <a:prstGeom prst="roundRect">
            <a:avLst>
              <a:gd name="adj" fmla="val 19048"/>
            </a:avLst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0" y="5239512"/>
            <a:ext cx="17465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“EMITIR ATESTADO”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8979408" y="5175504"/>
            <a:ext cx="2194560" cy="384048"/>
          </a:xfrm>
          <a:prstGeom prst="roundRect">
            <a:avLst>
              <a:gd name="adj" fmla="val 19048"/>
            </a:avLst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89136" y="5239512"/>
            <a:ext cx="19751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“ENCERRAR CONSULTA”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3" name="Text 2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EXPERIÊNCIA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Uma consulta, cinco momentos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consentimento ao prontuário revisado.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70048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CONSENTIR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841248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Finalidade e autorizações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992624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80944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145536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45536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145536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CONVERSAR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3163824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Áudio via HFP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315200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0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68112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68112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468112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REGISTRAR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5486400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Foto e atestado por voz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9637776" y="2944368"/>
            <a:ext cx="384048" cy="438912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26096" y="2148840"/>
            <a:ext cx="2066544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CD5D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790688" y="2313432"/>
            <a:ext cx="411480" cy="411480"/>
          </a:xfrm>
          <a:prstGeom prst="ellipse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90688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790688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ESTRUTURAR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808976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SOAP local com proveniência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948672" y="2148840"/>
            <a:ext cx="2066544" cy="2011680"/>
          </a:xfrm>
          <a:prstGeom prst="roundRect">
            <a:avLst/>
          </a:prstGeom>
          <a:solidFill>
            <a:srgbClr val="0E604B"/>
          </a:solidFill>
          <a:ln w="15240">
            <a:solidFill>
              <a:srgbClr val="0E604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113264" y="2313432"/>
            <a:ext cx="411480" cy="411480"/>
          </a:xfrm>
          <a:prstGeom prst="ellipse">
            <a:avLst/>
          </a:prstGeom>
          <a:solidFill>
            <a:srgbClr val="C8E662"/>
          </a:solidFill>
          <a:ln w="12700">
            <a:solidFill>
              <a:srgbClr val="C8E66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113264" y="2368296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113264" y="2926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REVISAR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10131552" y="3410712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DDEAE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Editar, confirmar ou descartar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1417320" y="4892040"/>
            <a:ext cx="9281160" cy="658368"/>
          </a:xfrm>
          <a:prstGeom prst="roundRect">
            <a:avLst/>
          </a:prstGeom>
          <a:solidFill>
            <a:srgbClr val="FFF3D1"/>
          </a:solidFill>
          <a:ln w="12700">
            <a:solidFill>
              <a:srgbClr val="E9B94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691640" y="5093208"/>
            <a:ext cx="8732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B511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não reconheceu um CID? O sistema omite o dado — não tenta adivinhar.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37" name="Text 35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COMO FUNCIONA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local. Médico no controle.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Uma arquitetura estreita, auditável e desenhada para degradar com segurança.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2148840" cy="1261872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ÓCULOS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HFP + câmera DAT 0.9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91693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27248" y="1965960"/>
            <a:ext cx="2148840" cy="1261872"/>
          </a:xfrm>
          <a:prstGeom prst="roundRect">
            <a:avLst/>
          </a:prstGeom>
          <a:solidFill>
            <a:srgbClr val="D9EEE6"/>
          </a:solidFill>
          <a:ln w="12700">
            <a:solidFill>
              <a:srgbClr val="D9EE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ANDROID LOCAL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329184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AudioRecord + Vosk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38581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596128" y="1965960"/>
            <a:ext cx="2148840" cy="1261872"/>
          </a:xfrm>
          <a:prstGeom prst="roundRect">
            <a:avLst/>
          </a:prstGeom>
          <a:solidFill>
            <a:srgbClr val="EAF0ED"/>
          </a:solidFill>
          <a:ln w="12700">
            <a:solidFill>
              <a:srgbClr val="EAF0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6072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IA CLÍNICA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76072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Fatos + SOAP + origem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854696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65008" y="1965960"/>
            <a:ext cx="2148840" cy="1261872"/>
          </a:xfrm>
          <a:prstGeom prst="roundRect">
            <a:avLst/>
          </a:prstGeom>
          <a:solidFill>
            <a:srgbClr val="FDE1DA"/>
          </a:solidFill>
          <a:ln w="12700">
            <a:solidFill>
              <a:srgbClr val="FDE1D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2212848"/>
            <a:ext cx="18196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REVISÃO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2615184"/>
            <a:ext cx="18196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Editar · confirmar · excluir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10442448" y="2359152"/>
            <a:ext cx="329184" cy="457200"/>
          </a:xfrm>
          <a:prstGeom prst="chevron">
            <a:avLst/>
          </a:prstGeom>
          <a:solidFill>
            <a:srgbClr val="CCD5D1"/>
          </a:solidFill>
          <a:ln w="12700">
            <a:solidFill>
              <a:srgbClr val="CCD5D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808208" y="1965960"/>
            <a:ext cx="768096" cy="1261872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27080" y="2423160"/>
            <a:ext cx="5303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TTS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5800" y="387705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QUANDO ALGO FALHA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13232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2688" y="4343400"/>
            <a:ext cx="311810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Câmera ou bateria crítica → preserva o áudio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420624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25696" y="4343400"/>
            <a:ext cx="29352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HFP indisponível → mic do telefone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543800" y="445312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63256" y="4343400"/>
            <a:ext cx="36667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ASR incerto → não informado, nunca inferido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3429000" y="5349240"/>
            <a:ext cx="5349240" cy="50292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703320" y="5513832"/>
            <a:ext cx="4800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Sem IA em nuvem · retenção mínima · revisão humana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Fluxo completo entregue em arquitetura.png + arquitetura.mmd</a:t>
            </a:r>
            <a:endParaRPr lang="en-US" sz="750" dirty="0"/>
          </a:p>
        </p:txBody>
      </p:sp>
      <p:sp>
        <p:nvSpPr>
          <p:cNvPr id="33" name="Text 31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2004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EVIDÊNCIA E PRÓXIMOS PASSOS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9232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Não é apenas uma ideia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12648" y="135331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 risco restante está concentrado e tem protocolo de validação.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58368" y="1847088"/>
            <a:ext cx="3200400" cy="3520440"/>
          </a:xfrm>
          <a:prstGeom prst="roundRect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212848"/>
            <a:ext cx="2331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1051560" y="32004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E66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testes automatizados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8862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Pipeline Android de ponta a ponta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SOAP · foto · atestado · cofre · revisão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407408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F06B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HARDWARE REAL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4840" y="2505456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2395728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Captura HFP da voz do paciente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434840" y="3264408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54296" y="3154680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Burst de foto com DAT 0.9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34840" y="4023360"/>
            <a:ext cx="109728" cy="109728"/>
          </a:xfrm>
          <a:prstGeom prst="ellipse">
            <a:avLst/>
          </a:prstGeom>
          <a:solidFill>
            <a:srgbClr val="F06B4F"/>
          </a:solidFill>
          <a:ln w="12700">
            <a:solidFill>
              <a:srgbClr val="F06B4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4296" y="3913632"/>
            <a:ext cx="26151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Autonomia por consulta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863840" y="1883664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10" kern="0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NOSSO DIFERENCIAL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82128" y="2505456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101584" y="2395728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Processamento clínico local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7882128" y="3264408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3154680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Proveniência fato a fato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882128" y="4023360"/>
            <a:ext cx="109728" cy="109728"/>
          </a:xfrm>
          <a:prstGeom prst="ellipse">
            <a:avLst/>
          </a:prstGeom>
          <a:solidFill>
            <a:srgbClr val="0E604B"/>
          </a:solidFill>
          <a:ln w="12700">
            <a:solidFill>
              <a:srgbClr val="0E604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01584" y="3913632"/>
            <a:ext cx="31638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700" dirty="0">
                <a:solidFill>
                  <a:srgbClr val="19232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Médico sempre no controle</a:t>
            </a:r>
            <a:endParaRPr lang="en-US" sz="1700" dirty="0"/>
          </a:p>
        </p:txBody>
      </p:sp>
      <p:sp>
        <p:nvSpPr>
          <p:cNvPr id="23" name="Shape 21"/>
          <p:cNvSpPr/>
          <p:nvPr/>
        </p:nvSpPr>
        <p:spPr>
          <a:xfrm>
            <a:off x="4407408" y="4892040"/>
            <a:ext cx="6720840" cy="685800"/>
          </a:xfrm>
          <a:prstGeom prst="roundRect">
            <a:avLst/>
          </a:prstGeom>
          <a:solidFill>
            <a:srgbClr val="192321"/>
          </a:solidFill>
          <a:ln w="12700">
            <a:solidFill>
              <a:srgbClr val="19232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09160" y="5102352"/>
            <a:ext cx="6126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Devolver ao médico tempo e atenção para o paciente.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94360" y="6428232"/>
            <a:ext cx="5394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0706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Assistente de Prontuário Automático · AI Glasses Brasil 2026</a:t>
            </a:r>
            <a:endParaRPr lang="en-US" sz="750" dirty="0"/>
          </a:p>
        </p:txBody>
      </p:sp>
      <p:sp>
        <p:nvSpPr>
          <p:cNvPr id="26" name="Text 24">
            <a:hlinkClick r:id="rId1" tooltip=""/>
          </p:cNvPr>
          <p:cNvSpPr/>
          <p:nvPr/>
        </p:nvSpPr>
        <p:spPr>
          <a:xfrm>
            <a:off x="6080760" y="6428232"/>
            <a:ext cx="4983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u="sng" dirty="0">
                <a:solidFill>
                  <a:srgbClr val="0E60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github.com/marcospaulo429/meta-glasses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76304" y="6446520"/>
            <a:ext cx="256032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64706C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AI Glasses Brasil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Assistente de Prontuário Automático</dc:title>
  <dc:subject>Vídeo-pitch — AI Glasses Brasil 2026</dc:subject>
  <dc:creator>Equipe Assistente de Prontuário Automático</dc:creator>
  <cp:lastModifiedBy>Equipe Assistente de Prontuário Automático</cp:lastModifiedBy>
  <cp:revision>1</cp:revision>
  <dcterms:created xsi:type="dcterms:W3CDTF">2026-08-22T19:45:24Z</dcterms:created>
  <dcterms:modified xsi:type="dcterms:W3CDTF">2026-08-22T19:45:24Z</dcterms:modified>
</cp:coreProperties>
</file>